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a64be5e8334ae1" /><Relationship Type="http://schemas.openxmlformats.org/officeDocument/2006/relationships/extended-properties" Target="/docProps/app.xml" Id="R20915055cbcf4dcc" /><Relationship Type="http://schemas.openxmlformats.org/officeDocument/2006/relationships/officeDocument" Target="/ppt/presentation.xml" Id="R0b012501bc7a43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03fd22e63d4751"/>
  </p:sldMasterIdLst>
  <p:notesMasterIdLst>
    <p:notesMasterId xmlns:r="http://schemas.openxmlformats.org/officeDocument/2006/relationships" r:id="Rab22d49e0d044e12"/>
  </p:notesMasterIdLst>
  <p:sldIdLst>
    <p:sldId xmlns:r="http://schemas.openxmlformats.org/officeDocument/2006/relationships" id="256" r:id="R60df3e9f558249ed"/>
    <p:sldId xmlns:r="http://schemas.openxmlformats.org/officeDocument/2006/relationships" id="257" r:id="Rd733fea7cc6b4926"/>
    <p:sldId xmlns:r="http://schemas.openxmlformats.org/officeDocument/2006/relationships" id="258" r:id="Rc91aa06469914410"/>
    <p:sldId xmlns:r="http://schemas.openxmlformats.org/officeDocument/2006/relationships" id="259" r:id="R5dd6349535674a53"/>
    <p:sldId xmlns:r="http://schemas.openxmlformats.org/officeDocument/2006/relationships" id="260" r:id="R14a6e4fc1d7f4b68"/>
    <p:sldId xmlns:r="http://schemas.openxmlformats.org/officeDocument/2006/relationships" id="261" r:id="Rbd34da4d69cc4cd0"/>
    <p:sldId xmlns:r="http://schemas.openxmlformats.org/officeDocument/2006/relationships" id="262" r:id="Rce9210cc5cde46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b57321ab884e13" /><Relationship Type="http://schemas.openxmlformats.org/officeDocument/2006/relationships/slideMaster" Target="/ppt/slideMasters/slideMaster1.xml" Id="R3c03fd22e63d4751" /><Relationship Type="http://schemas.openxmlformats.org/officeDocument/2006/relationships/notesMaster" Target="/ppt/notesMasters/notesMaster1.xml" Id="Rab22d49e0d044e12" /><Relationship Type="http://schemas.openxmlformats.org/officeDocument/2006/relationships/presProps" Target="/ppt/presProps.xml" Id="R524e16448fca431d" /><Relationship Type="http://schemas.openxmlformats.org/officeDocument/2006/relationships/tableStyles" Target="/ppt/tableStyles.xml" Id="Re852b497747e4ffd" /><Relationship Type="http://schemas.openxmlformats.org/officeDocument/2006/relationships/slide" Target="/ppt/slides/slide1.xml" Id="R60df3e9f558249ed" /><Relationship Type="http://schemas.openxmlformats.org/officeDocument/2006/relationships/slide" Target="/ppt/slides/slide2.xml" Id="Rd733fea7cc6b4926" /><Relationship Type="http://schemas.openxmlformats.org/officeDocument/2006/relationships/slide" Target="/ppt/slides/slide3.xml" Id="Rc91aa06469914410" /><Relationship Type="http://schemas.openxmlformats.org/officeDocument/2006/relationships/slide" Target="/ppt/slides/slide4.xml" Id="R5dd6349535674a53" /><Relationship Type="http://schemas.openxmlformats.org/officeDocument/2006/relationships/slide" Target="/ppt/slides/slide5.xml" Id="R14a6e4fc1d7f4b68" /><Relationship Type="http://schemas.openxmlformats.org/officeDocument/2006/relationships/slide" Target="/ppt/slides/slide6.xml" Id="Rbd34da4d69cc4cd0" /><Relationship Type="http://schemas.openxmlformats.org/officeDocument/2006/relationships/slide" Target="/ppt/slides/slide7.xml" Id="Rce9210cc5cde46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40231f351b45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77f915e1f64319" /><Relationship Type="http://schemas.openxmlformats.org/officeDocument/2006/relationships/notesMaster" Target="/ppt/notesMasters/notesMaster1.xml" Id="R6d94bd94e1834e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32423a9bea4f88" /><Relationship Type="http://schemas.openxmlformats.org/officeDocument/2006/relationships/notesMaster" Target="/ppt/notesMasters/notesMaster1.xml" Id="R6aab4fabfd944d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b0b275aad8404f" /><Relationship Type="http://schemas.openxmlformats.org/officeDocument/2006/relationships/notesMaster" Target="/ppt/notesMasters/notesMaster1.xml" Id="Rbce374b01e7a41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6de334b3374838" /><Relationship Type="http://schemas.openxmlformats.org/officeDocument/2006/relationships/notesMaster" Target="/ppt/notesMasters/notesMaster1.xml" Id="Rf41166e721b547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5c996722ac4d78" /><Relationship Type="http://schemas.openxmlformats.org/officeDocument/2006/relationships/notesMaster" Target="/ppt/notesMasters/notesMaster1.xml" Id="R3f00de5e99664f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23b77579d742ed" /><Relationship Type="http://schemas.openxmlformats.org/officeDocument/2006/relationships/notesMaster" Target="/ppt/notesMasters/notesMaster1.xml" Id="R1204a4b29bf046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0a7d750aae458c" /><Relationship Type="http://schemas.openxmlformats.org/officeDocument/2006/relationships/notesMaster" Target="/ppt/notesMasters/notesMaster1.xml" Id="Rd91c2fc9388343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visual: Gestión, aerial container port operations, ditemukan melalui penelusuran gambar. Sumber data proyek: UN Comtrade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Parameter mengikuti kode UN Comtrade: reporterCode 360 untuk Indonesia, partnerCode 156 untuk China, flowCode M untuk impor, annual frequency, dan HS aggregation level 6. Dokumentasi: https://uncomtrade.org/docs/un-comtrade-api/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Kesimpulan berdasarkan isi notebook demo_mp.ipynb. Jalankan notebook dengan subscription key untuk memperoleh angka hasil aktual sebelum presentasi 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ae662210db4d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eb5bac8df744f9" /><Relationship Type="http://schemas.openxmlformats.org/officeDocument/2006/relationships/slideLayout" Target="/ppt/slideLayouts/slideLayout1.xml" Id="R45b821f634484d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b821f634484d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6f59d386949ea" /><Relationship Type="http://schemas.openxmlformats.org/officeDocument/2006/relationships/image" Target="/ppt/media/image.jpeg" Id="Rd97cdf39109a485f" /><Relationship Type="http://schemas.openxmlformats.org/officeDocument/2006/relationships/notesSlide" Target="/ppt/notesSlides/notesSlide1.xml" Id="R98975e795a304d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5841446ab4375" /><Relationship Type="http://schemas.openxmlformats.org/officeDocument/2006/relationships/notesSlide" Target="/ppt/notesSlides/notesSlide2.xml" Id="Rdadbe5c4bcfa4c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5e31d1b6a48a7" /><Relationship Type="http://schemas.openxmlformats.org/officeDocument/2006/relationships/notesSlide" Target="/ppt/notesSlides/notesSlide3.xml" Id="R32a202f035cd4e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ac84833224971" /><Relationship Type="http://schemas.openxmlformats.org/officeDocument/2006/relationships/notesSlide" Target="/ppt/notesSlides/notesSlide4.xml" Id="Rcbbd3c9544e745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bd6b088344384" /><Relationship Type="http://schemas.openxmlformats.org/officeDocument/2006/relationships/notesSlide" Target="/ppt/notesSlides/notesSlide5.xml" Id="R3e1d0c8b10a84a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ca24b804a42d5" /><Relationship Type="http://schemas.openxmlformats.org/officeDocument/2006/relationships/notesSlide" Target="/ppt/notesSlides/notesSlide6.xml" Id="R7d5073462d2f41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6e4b909d54812" /><Relationship Type="http://schemas.openxmlformats.org/officeDocument/2006/relationships/notesSlide" Target="/ppt/notesSlides/notesSlide7.xml" Id="Rea14406dc22644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7cdf39109a485f"/>
          <a:srcRect xmlns:a="http://schemas.openxmlformats.org/drawingml/2006/main" l="20395" t="0" r="203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681EA-32AF-4EE1-A38C-1973F556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0"/>
            <a:ext cx="857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4BF82-831E-4C03-ADE0-482EC8B0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MINI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CDC9C-0759-4627-907E-5C83000C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4762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Impor Indonesia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dari China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892B3-4DC0-4C8A-8E84-46FC5832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6E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8E6EF"/>
                </a:solidFill>
                <a:latin typeface="Aptos"/>
                <a:ea typeface="Aptos"/>
                <a:cs typeface="Aptos"/>
              </a:rPr>
              <a:t>Akses UN Comtrade API menggunakan API key, OOP, dan data cleaning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9F8B9-09F2-43DE-B635-D769C8F1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4EE8C-6B98-4098-9607-BA5BE236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 &amp; Data Engineer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DFBCB-DE11-4D8F-84B0-23A0B4D5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AD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CAD7"/>
                </a:solidFill>
                <a:latin typeface="Aptos"/>
                <a:ea typeface="Aptos"/>
                <a:cs typeface="Aptos"/>
              </a:rPr>
              <a:t>Dataset tahunan 2024  •  HS 6 digit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9D171-7728-44E4-82F8-4B556FDA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A99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A999"/>
                </a:solidFill>
                <a:latin typeface="Aptos"/>
                <a:ea typeface="Aptos"/>
                <a:cs typeface="Aptos"/>
              </a:rPr>
              <a:t>JAYYID TAMAM</a:t>
            </a:r>
          </a:p>
        </p:txBody>
      </p:sp>
    </p:spTree>
    <p:extLst>
      <p:ext uri="{BB962C8B-B14F-4D97-AF65-F5344CB8AC3E}">
        <p14:creationId xmlns:p14="http://schemas.microsoft.com/office/powerpoint/2010/main" val="2370990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1A0AFE-DAF9-43DD-B7B3-C57F0EF1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A99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A99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4A126-5B3D-444B-8164-51842566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Tujuan dan ruang lingkup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05DD7-A6E8-4EDE-BAAF-73E47B5A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2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285"/>
                </a:solidFill>
                <a:latin typeface="Aptos"/>
                <a:ea typeface="Aptos"/>
                <a:cs typeface="Aptos"/>
              </a:rPr>
              <a:t>Permintaan API difokuskan pada satu koridor perdagangan dan satu tingkat klasifikasi barang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2BA5D-150F-463C-A2C7-3C6E3B5A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AEDF3-3FC4-4F4A-AD93-AE7F5FBB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A99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A999"/>
                </a:solidFill>
                <a:latin typeface="Aptos"/>
                <a:ea typeface="Aptos"/>
                <a:cs typeface="Aptos"/>
              </a:rPr>
              <a:t>Tujuan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F82CA-E69F-43E8-9C3D-57D5A6C6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Membangun alur pengambilan dan pembersihan data barang yang diimpor Indonesia dari China melalui API resmi.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81280-A55D-4977-BA82-9D6E1992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2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07285"/>
                </a:solidFill>
                <a:latin typeface="Aptos"/>
                <a:ea typeface="Aptos"/>
                <a:cs typeface="Aptos"/>
              </a:rPr>
              <a:t>Dataset akhir ditargetkan memiliki sedikitnya 100 baris bersih dan dapat dibuka di Excel.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38D4D-7D83-4D10-A4A0-3C1F2B20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5740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728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7285"/>
                </a:solidFill>
                <a:latin typeface="Aptos"/>
                <a:ea typeface="Aptos"/>
                <a:cs typeface="Aptos"/>
              </a:rPr>
              <a:t>Reporter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5CFA27-8169-4B4F-A76D-B2271E83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574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A99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A999"/>
                </a:solidFill>
                <a:latin typeface="Aptos"/>
                <a:ea typeface="Aptos"/>
                <a:cs typeface="Aptos"/>
              </a:rPr>
              <a:t>360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6DDC1B-771D-4855-8118-A2AA15EC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5740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8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83A"/>
                </a:solidFill>
                <a:latin typeface="Aptos"/>
                <a:ea typeface="Aptos"/>
                <a:cs typeface="Aptos"/>
              </a:rPr>
              <a:t>Indonesia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D2F4C3-2F01-4871-9A3A-C8F8BE4E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574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928BFF-219D-408E-BFBC-31DA44B7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8605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728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7285"/>
                </a:solidFill>
                <a:latin typeface="Aptos"/>
                <a:ea typeface="Aptos"/>
                <a:cs typeface="Aptos"/>
              </a:rPr>
              <a:t>Partner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571398-E5F1-461A-8610-BF74F797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8605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A99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A999"/>
                </a:solidFill>
                <a:latin typeface="Aptos"/>
                <a:ea typeface="Aptos"/>
                <a:cs typeface="Aptos"/>
              </a:rPr>
              <a:t>156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0444D3-4211-4817-9A31-66C4CAE6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860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8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83A"/>
                </a:solidFill>
                <a:latin typeface="Aptos"/>
                <a:ea typeface="Aptos"/>
                <a:cs typeface="Aptos"/>
              </a:rPr>
              <a:t>China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198500-A169-40E2-B8EF-272750CD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861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EB6531-F80A-48BF-A2B6-1704F087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1470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728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7285"/>
                </a:solidFill>
                <a:latin typeface="Aptos"/>
                <a:ea typeface="Aptos"/>
                <a:cs typeface="Aptos"/>
              </a:rPr>
              <a:t>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B7237C-3058-4043-89DE-35C8AA3E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147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A99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A999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601661-EC22-4CD0-9A7C-A61E3E55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1470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8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83A"/>
                </a:solidFill>
                <a:latin typeface="Aptos"/>
                <a:ea typeface="Aptos"/>
                <a:cs typeface="Aptos"/>
              </a:rPr>
              <a:t>Import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58C211-8567-4519-B011-327BF3B5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723DDF-A220-4FBC-84AA-A16C38DF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4335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728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7285"/>
                </a:solidFill>
                <a:latin typeface="Aptos"/>
                <a:ea typeface="Aptos"/>
                <a:cs typeface="Aptos"/>
              </a:rPr>
              <a:t>Period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A4C64-1B0A-466A-9A54-71F9934B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4335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A99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A999"/>
                </a:solidFill>
                <a:latin typeface="Aptos"/>
                <a:ea typeface="Aptos"/>
                <a:cs typeface="Aptos"/>
              </a:rPr>
              <a:t>2024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B11309-77E9-4E0F-A1AB-10FDCF12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9433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8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83A"/>
                </a:solidFill>
                <a:latin typeface="Aptos"/>
                <a:ea typeface="Aptos"/>
                <a:cs typeface="Aptos"/>
              </a:rPr>
              <a:t>Annual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2F57C3-CECF-43E1-89C6-2E2103F9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434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ED0740-8FE4-442C-8407-6C25199B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7200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728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7285"/>
                </a:solidFill>
                <a:latin typeface="Aptos"/>
                <a:ea typeface="Aptos"/>
                <a:cs typeface="Aptos"/>
              </a:rPr>
              <a:t>Commodity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2D2586-210B-4F9A-ACF4-85F72242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720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A99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A999"/>
                </a:solidFill>
                <a:latin typeface="Aptos"/>
                <a:ea typeface="Aptos"/>
                <a:cs typeface="Aptos"/>
              </a:rPr>
              <a:t>AG6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B873B5-1C41-4C3E-87A1-72EFF712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57200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8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83A"/>
                </a:solidFill>
                <a:latin typeface="Aptos"/>
                <a:ea typeface="Aptos"/>
                <a:cs typeface="Aptos"/>
              </a:rPr>
              <a:t>HS 6 digit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314AB0-03DA-47D0-A50A-8A058949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720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AADC1A-3FDF-4C2A-A7B9-AC837506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728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7285"/>
                </a:solidFill>
                <a:latin typeface="Aptos"/>
                <a:ea typeface="Aptos"/>
                <a:cs typeface="Aptos"/>
              </a:rPr>
              <a:t>Limit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1D108F-423F-4F83-913E-B73C93A0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0065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A99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A999"/>
                </a:solidFill>
                <a:latin typeface="Aptos"/>
                <a:ea typeface="Aptos"/>
                <a:cs typeface="Aptos"/>
              </a:rPr>
              <a:t>500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CBD221-AA85-4EC4-8376-CC34D362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2006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8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83A"/>
                </a:solidFill>
                <a:latin typeface="Aptos"/>
                <a:ea typeface="Aptos"/>
                <a:cs typeface="Aptos"/>
              </a:rPr>
              <a:t>records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C2F8D2-FDCB-40BC-9C14-950B50D4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6007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564223-5412-4C1D-A8E7-9F763734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2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285"/>
                </a:solidFill>
                <a:latin typeface="Aptos"/>
                <a:ea typeface="Aptos"/>
                <a:cs typeface="Aptos"/>
              </a:rPr>
              <a:t>Mini Project AI &amp; Data Engineer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77321F-BDCA-43D6-835F-54947936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2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28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540329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301194-0CE2-42B0-A8EA-F07D375A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A99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A99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70885-0683-486A-A19C-08B4A3BA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Alur kerja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D82C6-78A7-44B6-B382-369A98B8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2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285"/>
                </a:solidFill>
                <a:latin typeface="Aptos"/>
                <a:ea typeface="Aptos"/>
                <a:cs typeface="Aptos"/>
              </a:rPr>
              <a:t>Lima tahap mengubah respons API menjadi dataset yang siap dianalisis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F7EE6-E834-4AE4-A4A4-AAFA8881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80917-9376-4F82-B6B7-D2C68D85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1981200" cy="200025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63A78-8C55-4A6A-B463-FEAA54D0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A9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A99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96AA9-D6E4-4C4D-9937-B4626DAA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API key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33ECF9-34F2-4085-A9A5-AA90EC43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1600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2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285"/>
                </a:solidFill>
                <a:latin typeface="Aptos"/>
                <a:ea typeface="Aptos"/>
                <a:cs typeface="Aptos"/>
              </a:rPr>
              <a:t>Dibaca dari .env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5AD6F-3342-4782-9E81-4811D517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76500"/>
            <a:ext cx="1981200" cy="200025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ADC8F-C2B7-4216-ACF7-357C040C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670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A9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A99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BA2BE7-3860-4F36-9D98-D647C150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52775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3BB1D-6ABD-4145-A98E-E7F8554F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14750"/>
            <a:ext cx="1600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2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285"/>
                </a:solidFill>
                <a:latin typeface="Aptos"/>
                <a:ea typeface="Aptos"/>
                <a:cs typeface="Aptos"/>
              </a:rPr>
              <a:t>Parameter perdagangan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05C37E-8632-4F20-B820-048AC335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76500"/>
            <a:ext cx="1981200" cy="200025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69FD7E-2329-4D03-85ED-25283F41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670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A84FA7-C062-4286-8C5A-D56DF7DE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52775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F8179B-A332-4F8F-B3E2-212BE8D9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14750"/>
            <a:ext cx="1600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6E2E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6E2EB"/>
                </a:solidFill>
                <a:latin typeface="Aptos"/>
                <a:ea typeface="Aptos"/>
                <a:cs typeface="Aptos"/>
              </a:rPr>
              <a:t>KlienComtrade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ED9855-23BD-4A83-BA92-E3D457A5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1981200" cy="200025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7A166F-8143-445D-B0AA-D35AC89A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670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A9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A99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F5EE4F-A86D-450B-9D4D-64B2907C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52775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Cleaning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EB4D1C-4686-4F16-A178-1E7CF05C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14750"/>
            <a:ext cx="1600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2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285"/>
                </a:solidFill>
                <a:latin typeface="Aptos"/>
                <a:ea typeface="Aptos"/>
                <a:cs typeface="Aptos"/>
              </a:rPr>
              <a:t>Validasi kualitas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23F76E-AFDF-4B46-BE51-C7C22518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0"/>
            <a:ext cx="1981200" cy="200025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9FD491-1B4E-4740-950F-7B320CB9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6670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A9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A99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222BA9-8EA0-4677-8D40-2F631908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52775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796725-9FF6-4FBC-A147-0ACEE4CC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714750"/>
            <a:ext cx="1600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2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285"/>
                </a:solidFill>
                <a:latin typeface="Aptos"/>
                <a:ea typeface="Aptos"/>
                <a:cs typeface="Aptos"/>
              </a:rPr>
              <a:t>CSV dan insight</a:t>
            </a:r>
          </a:p>
        </p:txBody>
      </p:sp>
      <p:cxnSp>
        <p:nvCxnSpPr>
          <p:cNvPr id="58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533650" y="34766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A999"/>
            </a:solidFill>
            <a:prstDash val="solid"/>
            <a:tailEnd type="arrow" w="sm" len="sm"/>
          </a:ln>
        </p:spPr>
      </p:cxnSp>
      <p:cxnSp>
        <p:nvCxnSpPr>
          <p:cNvPr id="59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857750" y="34766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A999"/>
            </a:solidFill>
            <a:prstDash val="solid"/>
            <a:tailEnd type="arrow" w="sm" len="sm"/>
          </a:ln>
        </p:spPr>
      </p:cxnSp>
      <p:cxnSp>
        <p:nvCxnSpPr>
          <p:cNvPr id="60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181850" y="34766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A999"/>
            </a:solidFill>
            <a:prstDash val="solid"/>
            <a:tailEnd type="arrow" w="sm" len="sm"/>
          </a:ln>
        </p:spPr>
      </p:cxnSp>
      <p:cxnSp>
        <p:nvCxnSpPr>
          <p:cNvPr id="61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505950" y="34766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A999"/>
            </a:solidFill>
            <a:prstDash val="solid"/>
            <a:tailEnd type="arrow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E5923A-8BB4-4686-9682-64CAA524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006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A99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A999"/>
                </a:solidFill>
                <a:latin typeface="Aptos"/>
                <a:ea typeface="Aptos"/>
                <a:cs typeface="Aptos"/>
              </a:rPr>
              <a:t>Output utama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46BF25-6A62-42F2-AD89-20E9C5E5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dataset_impor_indonesia_dari_china_2024.csv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0823F6-5AC2-427F-BBCD-9DCEB57F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2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285"/>
                </a:solidFill>
                <a:latin typeface="Aptos"/>
                <a:ea typeface="Aptos"/>
                <a:cs typeface="Aptos"/>
              </a:rPr>
              <a:t>Encoding UTF-8-SIG untuk kompatibilitas Excel 2016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E79C71-4965-4594-B4CC-5D3E376A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2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285"/>
                </a:solidFill>
                <a:latin typeface="Aptos"/>
                <a:ea typeface="Aptos"/>
                <a:cs typeface="Aptos"/>
              </a:rPr>
              <a:t>Mini Project AI &amp; Data Engineer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0D116A-D4A8-4CAA-8D3B-1F1384BB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2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28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36020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7B61E7-D396-49D2-A7A8-D146B66B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A99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A99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A2B53-894F-43CE-BE90-77D277ED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Desain pengambilan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7551B-C08F-4A9F-B4E4-7629F28B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2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285"/>
                </a:solidFill>
                <a:latin typeface="Aptos"/>
                <a:ea typeface="Aptos"/>
                <a:cs typeface="Aptos"/>
              </a:rPr>
              <a:t>Class memusatkan konfigurasi, koneksi, retry, dan konversi respons 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84D6A-D862-4139-8B93-B7BAD27F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37390-3198-41B6-A083-65F5B9BF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6191250" cy="3667125"/>
          </a:xfrm>
          <a:prstGeom xmlns:a="http://schemas.openxmlformats.org/drawingml/2006/main" prst="roundRect">
            <a:avLst>
              <a:gd name="adj" fmla="val 415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85CBA-4754-4BCF-B4D8-60D92DF8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52675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class KlienComtrade: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E16F8-A391-4158-8E78-5F8B7739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538162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7F1F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7F1F6"/>
                </a:solidFill>
                <a:latin typeface="Aptos"/>
                <a:ea typeface="Aptos"/>
                <a:cs typeface="Aptos"/>
              </a:rPr>
              <a:t>def __init__(api_key, timeout=60, jumlah_retry=2)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E7F1F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7F1F6"/>
                </a:solidFill>
                <a:latin typeface="Aptos"/>
                <a:ea typeface="Aptos"/>
                <a:cs typeface="Aptos"/>
              </a:rPr>
              <a:t>def ambil_data_impor(tahun=2024, maksimum_record=500):</a:t>
            </a:r>
          </a:p>
          <a:p xmlns:a="http://schemas.openxmlformats.org/drawingml/2006/main">
            <a:pPr algn="l">
              <a:defRPr sz="1425" b="0">
                <a:solidFill>
                  <a:srgbClr val="E7F1F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7F1F6"/>
                </a:solidFill>
                <a:latin typeface="Aptos"/>
                <a:ea typeface="Aptos"/>
                <a:cs typeface="Aptos"/>
              </a:rPr>
              <a:t>    requests.get(endpoint, params=parameter)</a:t>
            </a:r>
          </a:p>
          <a:p xmlns:a="http://schemas.openxmlformats.org/drawingml/2006/main">
            <a:pPr algn="l">
              <a:defRPr sz="1425" b="0">
                <a:solidFill>
                  <a:srgbClr val="E7F1F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7F1F6"/>
                </a:solidFill>
                <a:latin typeface="Aptos"/>
                <a:ea typeface="Aptos"/>
                <a:cs typeface="Aptos"/>
              </a:rPr>
              <a:t>    response.raise_for_status()</a:t>
            </a:r>
          </a:p>
          <a:p xmlns:a="http://schemas.openxmlformats.org/drawingml/2006/main">
            <a:pPr algn="l">
              <a:defRPr sz="1425" b="0">
                <a:solidFill>
                  <a:srgbClr val="E7F1F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7F1F6"/>
                </a:solidFill>
                <a:latin typeface="Aptos"/>
                <a:ea typeface="Aptos"/>
                <a:cs typeface="Aptos"/>
              </a:rPr>
              <a:t>    return pd.DataFrame(hasil["data"])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3248A-DC39-4F9F-946D-E4FC6FCE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955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A99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A999"/>
                </a:solidFill>
                <a:latin typeface="Aptos"/>
                <a:ea typeface="Aptos"/>
                <a:cs typeface="Aptos"/>
              </a:rPr>
              <a:t>Nilai teknis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77B29A-AC8B-4BDC-AA64-E83E534C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95575"/>
            <a:ext cx="85725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ABCEC-2852-4459-950A-D65AB42F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590800"/>
            <a:ext cx="3600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283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283A"/>
                </a:solidFill>
                <a:latin typeface="Aptos"/>
                <a:ea typeface="Aptos"/>
                <a:cs typeface="Aptos"/>
              </a:rPr>
              <a:t>API key tersimpan sebagai atribut 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83295B-FE47-4880-A34E-359CC9C4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324225"/>
            <a:ext cx="85725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E3F24-C6CB-481C-9877-282730B1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219450"/>
            <a:ext cx="3600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887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283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283A"/>
                </a:solidFill>
                <a:latin typeface="Aptos"/>
                <a:ea typeface="Aptos"/>
                <a:cs typeface="Aptos"/>
              </a:rPr>
              <a:t>Retry menangani gangguan koneksi sementara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EA5076-4403-436E-B0B2-196693DF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52875"/>
            <a:ext cx="85725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F5D8F6-224F-409F-9854-5CAB4C93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848100"/>
            <a:ext cx="3600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283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283A"/>
                </a:solidFill>
                <a:latin typeface="Aptos"/>
                <a:ea typeface="Aptos"/>
                <a:cs typeface="Aptos"/>
              </a:rPr>
              <a:t>Status HTTP dan struktur JSON divalidasi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85B22-38CC-407B-BE3E-A8BE70F5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581525"/>
            <a:ext cx="85725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C81424-C642-4379-B64B-A119E7B2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476750"/>
            <a:ext cx="3600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039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283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283A"/>
                </a:solidFill>
                <a:latin typeface="Aptos"/>
                <a:ea typeface="Aptos"/>
                <a:cs typeface="Aptos"/>
              </a:rPr>
              <a:t>Method langsung menghasilkan DataFrame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F37765-7D92-4059-8021-400E9CFE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21970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Pendekatan ini memenuhi ketentuan OOP pada bagian pengambilan data.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778C20-A3A9-487B-A5B3-607A95F1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2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285"/>
                </a:solidFill>
                <a:latin typeface="Aptos"/>
                <a:ea typeface="Aptos"/>
                <a:cs typeface="Aptos"/>
              </a:rPr>
              <a:t>Mini Project AI &amp; Data Engineer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1916EE-5E66-4286-87DF-6299EEDC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2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28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217243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C88412-1E66-4E33-824B-95B40407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A99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A99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FFD6A-5F34-4DE7-8D62-108AAE8E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Pembersihan dan quality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10142-D2DD-4DE6-8C93-DDF10CC0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2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285"/>
                </a:solidFill>
                <a:latin typeface="Aptos"/>
                <a:ea typeface="Aptos"/>
                <a:cs typeface="Aptos"/>
              </a:rPr>
              <a:t>Dataset dianggap selesai setelah identitas barang, tipe data, dan ruang lingkup lolos validasi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2CAA9-A4A7-4387-932B-F5ECF4B5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DFC68-7056-4B4C-A644-E0F8B504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A99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A99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13CCC-55C0-45E1-9EBA-34D3CA36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Missing values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C4A06B-B031-4FF7-8E67-0090F8DC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47875"/>
            <a:ext cx="7477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2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285"/>
                </a:solidFill>
                <a:latin typeface="Aptos"/>
                <a:ea typeface="Aptos"/>
                <a:cs typeface="Aptos"/>
              </a:rPr>
              <a:t>Buang record tanpa Kode HS atau Nama Barang. Isi ukuran numerik kosong dengan 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F70A71-94D2-414C-B8C7-C40B04A6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A9574-DF6A-4F23-A408-2718070C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6075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00200-ECBA-4EFF-8D82-618B8A18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860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Duplikat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D7BCD2-0735-4261-996B-555A3A3B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86075"/>
            <a:ext cx="7477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2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285"/>
                </a:solidFill>
                <a:latin typeface="Aptos"/>
                <a:ea typeface="Aptos"/>
                <a:cs typeface="Aptos"/>
              </a:rPr>
              <a:t>Hapus baris kembar berdasarkan kombinasi Tahun dan Kode HS.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985758-12A8-4F91-A97B-59305336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90D871-9311-4953-BA4B-5DBD4C08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24275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A99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A99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46CC0-03CA-42CE-AAC9-1D568890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242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Tipe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DD35E-24A0-420E-9548-2EADAA7B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724275"/>
            <a:ext cx="7477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2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285"/>
                </a:solidFill>
                <a:latin typeface="Aptos"/>
                <a:ea typeface="Aptos"/>
                <a:cs typeface="Aptos"/>
              </a:rPr>
              <a:t>Tahun menjadi integer, nilai impor menjadi numerik, Kode HS tetap string enam digit.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781DA8-6C3C-4048-BD2C-54CBCC70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CD27A6-4A29-402B-A586-796B7383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0825B4-9A7E-4D4C-B898-D1B5F54A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624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647B00-A04A-4CF3-AC7E-A9957AB0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562475"/>
            <a:ext cx="7477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2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285"/>
                </a:solidFill>
                <a:latin typeface="Aptos"/>
                <a:ea typeface="Aptos"/>
                <a:cs typeface="Aptos"/>
              </a:rPr>
              <a:t>Pastikan reporter 360, partner 156, dan flow M pada seluruh baris.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88AD98-4B78-4893-92EB-CD7954A7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97189B-0564-40CF-9160-BFD63855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00675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A99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A99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C36A93-87CC-4759-B673-5EE8EAFD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006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Jumlah 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98E21D-8131-46BB-ABAC-E5534FA6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400675"/>
            <a:ext cx="7477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2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285"/>
                </a:solidFill>
                <a:latin typeface="Aptos"/>
                <a:ea typeface="Aptos"/>
                <a:cs typeface="Aptos"/>
              </a:rPr>
              <a:t>Assertion memastikan dataset akhir memiliki minimal 100 baris.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835975-E646-46B0-B012-EBF75B3A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2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285"/>
                </a:solidFill>
                <a:latin typeface="Aptos"/>
                <a:ea typeface="Aptos"/>
                <a:cs typeface="Aptos"/>
              </a:rPr>
              <a:t>Mini Project AI &amp; Data Engineer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87F8E4-F022-45B1-9963-A0ED30A6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2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285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259236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F23637-A0E4-451D-B259-BF9CCC49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A99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A99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69A87-AFC5-41DB-AE12-707D6B4F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Output dan analisis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503CE-2720-4074-B974-DCBCBA99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2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285"/>
                </a:solidFill>
                <a:latin typeface="Aptos"/>
                <a:ea typeface="Aptos"/>
                <a:cs typeface="Aptos"/>
              </a:rPr>
              <a:t>Notebook menyiapkan dataset terstruktur serta ringkasan yang dapat langsung masuk ke presentasi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31AF2-6080-4E9D-A4EA-DF3620B6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2685B-E2D9-4D22-8D3B-71ABBAE7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A99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A999"/>
                </a:solidFill>
                <a:latin typeface="Aptos"/>
                <a:ea typeface="Aptos"/>
                <a:cs typeface="Aptos"/>
              </a:rPr>
              <a:t>Dataset akhir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84FE9-18EA-42A2-AF03-E05E8739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14 kolom relevan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31397B-3FAC-442D-9858-9DE9A5A9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4095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2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07285"/>
                </a:solidFill>
                <a:latin typeface="Aptos"/>
                <a:ea typeface="Aptos"/>
                <a:cs typeface="Aptos"/>
              </a:rPr>
              <a:t>Identitas negara dan arus perdagangan, kode HS, nama barang, kuantitas, berat bersih, serta nilai impor USD.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4106E-5EA5-431D-871C-D54B4C4A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F30BC-DE98-4C7B-B2F7-26B4767A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1336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A99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A999"/>
                </a:solidFill>
                <a:latin typeface="Aptos"/>
                <a:ea typeface="Aptos"/>
                <a:cs typeface="Aptos"/>
              </a:rPr>
              <a:t>Analisis yang dihasilkan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9AB308-A9A8-43FA-AB61-2CF72F35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28925"/>
            <a:ext cx="85725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12F09-3E02-40B1-A6EA-EE7FE51F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724150"/>
            <a:ext cx="512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8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83A"/>
                </a:solidFill>
                <a:latin typeface="Aptos"/>
                <a:ea typeface="Aptos"/>
                <a:cs typeface="Aptos"/>
              </a:rPr>
              <a:t>Sepuluh barang dengan nilai impor terbesar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C13128-40EB-4E40-BA9C-C89BBE4C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95675"/>
            <a:ext cx="85725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EFA5D-A2CA-472F-874D-79F5EC4F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390900"/>
            <a:ext cx="512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8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83A"/>
                </a:solidFill>
                <a:latin typeface="Aptos"/>
                <a:ea typeface="Aptos"/>
                <a:cs typeface="Aptos"/>
              </a:rPr>
              <a:t>Total nilai impor pada record yang diambil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8A4708-AAD1-4D52-9A44-609E5D6C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162425"/>
            <a:ext cx="85725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35EEF4-D3D2-4512-AD98-5CE183E8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057650"/>
            <a:ext cx="512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8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83A"/>
                </a:solidFill>
                <a:latin typeface="Aptos"/>
                <a:ea typeface="Aptos"/>
                <a:cs typeface="Aptos"/>
              </a:rPr>
              <a:t>Total berat bersih dalam kilogram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9CCF8A-E42A-4357-9C02-B04FAC69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829175"/>
            <a:ext cx="85725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2C1F3C-A097-4531-98DF-4179C913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724400"/>
            <a:ext cx="512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8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83A"/>
                </a:solidFill>
                <a:latin typeface="Aptos"/>
                <a:ea typeface="Aptos"/>
                <a:cs typeface="Aptos"/>
              </a:rPr>
              <a:t>Ringkasan metrik untuk bahan slide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F3CE02-2C30-4BD1-9A97-82517AB6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572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5F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9FA7FE-BE87-4A56-A8E9-5132A73F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10144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66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66F"/>
                </a:solidFill>
                <a:latin typeface="Aptos"/>
                <a:ea typeface="Aptos"/>
                <a:cs typeface="Aptos"/>
              </a:rPr>
              <a:t>Catatan: angka aktual muncul setelah notebook dijalankan dengan API key. Deck ini tidak mengisi angka yang belum dihasilkan.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B64468-7B14-4A83-9F8E-FB897D9E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2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285"/>
                </a:solidFill>
                <a:latin typeface="Aptos"/>
                <a:ea typeface="Aptos"/>
                <a:cs typeface="Aptos"/>
              </a:rPr>
              <a:t>Mini Project AI &amp; Data Engineer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D9214E-C3D8-408A-A593-0442E478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2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285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484713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461F77-D987-4073-8CA1-0541B894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FADEB-7B65-4475-BECC-74C4B516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Kesimpulan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B95E9-0700-41A6-8E85-6E0C2020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FD0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FD0DD"/>
                </a:solidFill>
                <a:latin typeface="Aptos"/>
                <a:ea typeface="Aptos"/>
                <a:cs typeface="Aptos"/>
              </a:rPr>
              <a:t>Seluruh komponen utama mini project telah tersedia dalam satu notebook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74295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953000"/>
              </a:tblGrid>
              <a:tr h="48985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Kriteria</a:t>
                      </a:r>
                    </a:p>
                  </a:txBody>
                  <a:tcPr marL="133350" marR="133350" marT="76200" marB="76200">
                    <a:solidFill>
                      <a:srgbClr val="18A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Implementasi</a:t>
                      </a:r>
                    </a:p>
                  </a:txBody>
                  <a:tcPr marL="133350" marR="133350" marT="76200" marB="76200">
                    <a:solidFill>
                      <a:srgbClr val="18A999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API dengan key</a:t>
                      </a:r>
                    </a:p>
                  </a:txBody>
                  <a:tcPr marL="133350" marR="133350" marT="66675" marB="66675">
                    <a:solidFill>
                      <a:srgbClr val="10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UN Comtrade Final Data API</a:t>
                      </a:r>
                    </a:p>
                  </a:txBody>
                  <a:tcPr marL="133350" marR="133350" marT="66675" marB="66675">
                    <a:solidFill>
                      <a:srgbClr val="102B43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OOP</a:t>
                      </a:r>
                    </a:p>
                  </a:txBody>
                  <a:tcPr marL="133350" marR="133350" marT="66675" marB="66675">
                    <a:solidFill>
                      <a:srgbClr val="10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Class KlienComtrade</a:t>
                      </a:r>
                    </a:p>
                  </a:txBody>
                  <a:tcPr marL="133350" marR="133350" marT="66675" marB="66675">
                    <a:solidFill>
                      <a:srgbClr val="102B43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Modularitas</a:t>
                      </a:r>
                    </a:p>
                  </a:txBody>
                  <a:tcPr marL="133350" marR="133350" marT="66675" marB="66675">
                    <a:solidFill>
                      <a:srgbClr val="10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Fungsi cleaning terpisah</a:t>
                      </a:r>
                    </a:p>
                  </a:txBody>
                  <a:tcPr marL="133350" marR="133350" marT="66675" marB="66675">
                    <a:solidFill>
                      <a:srgbClr val="102B43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Kualitas data</a:t>
                      </a:r>
                    </a:p>
                  </a:txBody>
                  <a:tcPr marL="133350" marR="133350" marT="66675" marB="66675">
                    <a:solidFill>
                      <a:srgbClr val="10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Missing value, duplikat, tipe data, scope</a:t>
                      </a:r>
                    </a:p>
                  </a:txBody>
                  <a:tcPr marL="133350" marR="133350" marT="66675" marB="66675">
                    <a:solidFill>
                      <a:srgbClr val="102B43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Target dataset</a:t>
                      </a:r>
                    </a:p>
                  </a:txBody>
                  <a:tcPr marL="133350" marR="133350" marT="66675" marB="66675">
                    <a:solidFill>
                      <a:srgbClr val="10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Minimal 100 baris bersih</a:t>
                      </a:r>
                    </a:p>
                  </a:txBody>
                  <a:tcPr marL="133350" marR="133350" marT="66675" marB="66675">
                    <a:solidFill>
                      <a:srgbClr val="102B43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Output</a:t>
                      </a:r>
                    </a:p>
                  </a:txBody>
                  <a:tcPr marL="133350" marR="133350" marT="66675" marB="66675">
                    <a:solidFill>
                      <a:srgbClr val="10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CSV UTF-8-SIG dan ringkasan analisis</a:t>
                      </a:r>
                    </a:p>
                  </a:txBody>
                  <a:tcPr marL="133350" marR="133350" marT="66675" marB="66675">
                    <a:solidFill>
                      <a:srgbClr val="102B4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943EB-2525-48E0-A717-79ED6787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764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Langkah berikutnya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8DCD8C-3513-4D0C-A313-33426ABE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19375"/>
            <a:ext cx="2762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728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Jalankan notebook dengan subscription key, periksa hasil quality gate, lalu gunakan tabel top-10 sebagai temuan utama presentasi.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456A0-5A30-4AC7-97E1-B68038FA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625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D0D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FD0DD"/>
                </a:solidFill>
                <a:latin typeface="Aptos"/>
                <a:ea typeface="Aptos"/>
                <a:cs typeface="Aptos"/>
              </a:rPr>
              <a:t>Sumber data resmi:</a:t>
            </a:r>
          </a:p>
          <a:p xmlns:a="http://schemas.openxmlformats.org/drawingml/2006/main">
            <a:pPr algn="l">
              <a:defRPr sz="1275" b="0">
                <a:solidFill>
                  <a:srgbClr val="BFD0D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FD0DD"/>
                </a:solidFill>
                <a:latin typeface="Aptos"/>
                <a:ea typeface="Aptos"/>
                <a:cs typeface="Aptos"/>
              </a:rPr>
              <a:t>UN Comtrade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71CFA-689A-44AC-AD5C-D824DB19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8B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1A8B9"/>
                </a:solidFill>
                <a:latin typeface="Aptos"/>
                <a:ea typeface="Aptos"/>
                <a:cs typeface="Aptos"/>
              </a:rPr>
              <a:t>Mini Project AI &amp; Data Engineer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2F09D7-7B11-4A6E-88F1-E9A8D8D8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8B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1A8B9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178475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2026-09-22T06:56:29.7440000Z</dcterms:created>
  <dcterms:modified xsi:type="dcterms:W3CDTF">2026-09-22T06:56:29.7440000Z</dcterms:modified>
</coreProperties>
</file>